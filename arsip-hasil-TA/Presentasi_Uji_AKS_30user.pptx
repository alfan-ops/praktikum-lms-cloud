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 running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</c:v>
                  </c:pt>
                  <c:pt idx="1">
                    <c:v>0.5</c:v>
                  </c:pt>
                  <c:pt idx="2">
                    <c:v>0.8</c:v>
                  </c:pt>
                  <c:pt idx="3">
                    <c:v>1.4</c:v>
                  </c:pt>
                  <c:pt idx="4">
                    <c:v>1.6</c:v>
                  </c:pt>
                  <c:pt idx="5">
                    <c:v>1.9</c:v>
                  </c:pt>
                  <c:pt idx="6">
                    <c:v>2.4</c:v>
                  </c:pt>
                  <c:pt idx="7">
                    <c:v>3.4</c:v>
                  </c:pt>
                  <c:pt idx="8">
                    <c:v>4.4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 pending</c:v>
                </c:pt>
              </c:strCache>
            </c:strRef>
          </c:tx>
          <c:spPr>
            <a:solidFill>
              <a:srgbClr val="EDA100"/>
            </a:solidFill>
            <a:ln w="3175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</c:v>
                  </c:pt>
                  <c:pt idx="1">
                    <c:v>0.5</c:v>
                  </c:pt>
                  <c:pt idx="2">
                    <c:v>0.8</c:v>
                  </c:pt>
                  <c:pt idx="3">
                    <c:v>1.4</c:v>
                  </c:pt>
                  <c:pt idx="4">
                    <c:v>1.6</c:v>
                  </c:pt>
                  <c:pt idx="5">
                    <c:v>1.9</c:v>
                  </c:pt>
                  <c:pt idx="6">
                    <c:v>2.4</c:v>
                  </c:pt>
                  <c:pt idx="7">
                    <c:v>3.4</c:v>
                  </c:pt>
                  <c:pt idx="8">
                    <c:v>4.4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23</c:v>
                </c:pt>
                <c:pt idx="3">
                  <c:v>23</c:v>
                </c:pt>
                <c:pt idx="4">
                  <c:v>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F5E5A"/>
                    </a:solidFill>
                    <a:latin typeface="Arial"/>
                  </a:rPr>
                  <a:t>Waktu sejak Launch Lab (menit)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F5E5A"/>
                    </a:solidFill>
                    <a:latin typeface="Arial"/>
                  </a:rPr>
                  <a:t>Jumlah lab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C2C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371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4A3AA7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0" y="1371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95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 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LMS Praktikum di Kubernetes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30 user konkuren pada Azure AKS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5394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Alfan · 18119033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Telekomunikasi — Institut Teknologi Bandung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Juli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Microservice LMS</a:t>
            </a:r>
            <a:endParaRPr lang="en-US" sz="3200" dirty="0"/>
          </a:p>
        </p:txBody>
      </p:sp>
      <p:pic>
        <p:nvPicPr>
          <p:cNvPr id="3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062472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2084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utama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20840" y="1874520"/>
            <a:ext cx="4983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sebagai satu pintu masuk — mengarahkan ke frontend dan pod lab.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memisahkan logika LMS (course, jadwal, submit) dari penyediaan lab.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membuat/menghapus pod lab Jupyter dinamis via Kubernetes API.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+ Redis sebagai lapisan data.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+ Estimator (Prophet) menjaga ketersediaan saat beban naik.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memantau seluruh layanan.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720840" y="5989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komponen berjalan sebagai microservice di atas Kubernetes (Azure AKS).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Uji Beban — Sequence Diagram</a:t>
            </a:r>
            <a:endParaRPr lang="en-US" sz="3200" dirty="0"/>
          </a:p>
        </p:txBody>
      </p:sp>
      <p:pic>
        <p:nvPicPr>
          <p:cNvPr id="3" name="Image 0" descr="s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271523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234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① – ⑨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949440" y="1920240"/>
            <a:ext cx="4846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Locust kirim 30 POST /deploy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Orchestrator buat 30 pod (API Server)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Scheduler: 7 Running, 23 Pending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Autoscaler deteksi 23 pod Pending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Scale-up: +2 worker node (Azure)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Node baru Ready → jadwalkan 23 pod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 Tarik image lab 3GB (creating ~30 dtk)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 30 pod Running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 Poll status berjalan — 0% gagal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30 User — Autoscaling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63524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menit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63524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sampai 30 lab siap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35240" y="28803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63524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otomatis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4343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63524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(30/30 lab)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58064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bertambah 1→3 pada ~menit ke-1; setelah image ter-cache, semua lab Running.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Locust &amp; Kesimpulan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(30/30)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request/detik stabil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1792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/deploy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05256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/deploy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reaktif terbukti: worker node bertambah 1→3 otomatis, 30 lab siap dalam ~2 menit.</a:t>
            </a:r>
            <a:endParaRPr lang="en-US" sz="1600" dirty="0"/>
          </a:p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konsisten pada 3 kali pengujian (reproducible), tingkat kegagalan 0%.</a:t>
            </a:r>
            <a:endParaRPr lang="en-US" sz="1600" dirty="0"/>
          </a:p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&lt; 1 detik — memenuhi ambang responsif (Nielsen ≤ 1 dtk).</a:t>
            </a:r>
            <a:endParaRPr lang="en-US" sz="1600" dirty="0"/>
          </a:p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Dibanding baseline T50 (1 host): dari 91% gagal (crash) menjadi 0% gagal.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2026-07-07T05:49:34Z</dcterms:created>
  <dcterms:modified xsi:type="dcterms:W3CDTF">2026-07-07T05:49:34Z</dcterms:modified>
</cp:coreProperties>
</file>