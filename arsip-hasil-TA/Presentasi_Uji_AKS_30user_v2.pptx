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 running</c:v>
                </c:pt>
              </c:strCache>
            </c:strRef>
          </c:tx>
          <c:spPr>
            <a:solidFill>
              <a:srgbClr val="1BAF7A"/>
            </a:solidFill>
            <a:ln w="3175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</c:v>
                  </c:pt>
                  <c:pt idx="1">
                    <c:v>0.5</c:v>
                  </c:pt>
                  <c:pt idx="2">
                    <c:v>0.8</c:v>
                  </c:pt>
                  <c:pt idx="3">
                    <c:v>1.4</c:v>
                  </c:pt>
                  <c:pt idx="4">
                    <c:v>1.6</c:v>
                  </c:pt>
                  <c:pt idx="5">
                    <c:v>1.9</c:v>
                  </c:pt>
                  <c:pt idx="6">
                    <c:v>2.4</c:v>
                  </c:pt>
                  <c:pt idx="7">
                    <c:v>3.4</c:v>
                  </c:pt>
                  <c:pt idx="8">
                    <c:v>4.4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Lab pending</c:v>
                </c:pt>
              </c:strCache>
            </c:strRef>
          </c:tx>
          <c:spPr>
            <a:solidFill>
              <a:srgbClr val="EDA100"/>
            </a:solidFill>
            <a:ln w="31750" cap="flat">
              <a:solidFill>
                <a:srgbClr val="EDA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DA100"/>
              </a:solidFill>
              <a:ln w="9525" cap="flat">
                <a:solidFill>
                  <a:srgbClr val="EDA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</c:v>
                  </c:pt>
                  <c:pt idx="1">
                    <c:v>0.5</c:v>
                  </c:pt>
                  <c:pt idx="2">
                    <c:v>0.8</c:v>
                  </c:pt>
                  <c:pt idx="3">
                    <c:v>1.4</c:v>
                  </c:pt>
                  <c:pt idx="4">
                    <c:v>1.6</c:v>
                  </c:pt>
                  <c:pt idx="5">
                    <c:v>1.9</c:v>
                  </c:pt>
                  <c:pt idx="6">
                    <c:v>2.4</c:v>
                  </c:pt>
                  <c:pt idx="7">
                    <c:v>3.4</c:v>
                  </c:pt>
                  <c:pt idx="8">
                    <c:v>4.4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23</c:v>
                </c:pt>
                <c:pt idx="3">
                  <c:v>23</c:v>
                </c:pt>
                <c:pt idx="4">
                  <c:v>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F5E5A"/>
                    </a:solidFill>
                    <a:latin typeface="Arial"/>
                  </a:rPr>
                  <a:t>Waktu sejak Launch Lab (menit)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F5E5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F5E5A"/>
                    </a:solidFill>
                    <a:latin typeface="Arial"/>
                  </a:rPr>
                  <a:t>Jumlah lab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5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C2C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0F6E5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3716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4A3AA7"/>
          </a:solidFill>
          <a:ln/>
        </p:spPr>
      </p:sp>
      <p:sp>
        <p:nvSpPr>
          <p:cNvPr id="4" name="Shape 2"/>
          <p:cNvSpPr/>
          <p:nvPr/>
        </p:nvSpPr>
        <p:spPr>
          <a:xfrm>
            <a:off x="3017520" y="137160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95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 node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LMS Praktikum di Kubernetes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30 user konkuren pada Azure AKS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5394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Muhamad Alfan · 18119033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Telekomunikasi — Institut Teknologi Bandung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Juli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Microservice LMS</a:t>
            </a:r>
            <a:endParaRPr lang="en-US" sz="3200" dirty="0"/>
          </a:p>
        </p:txBody>
      </p:sp>
      <p:pic>
        <p:nvPicPr>
          <p:cNvPr id="3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062472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20840" y="1234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utama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720840" y="1874520"/>
            <a:ext cx="4983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sebagai satu pintu masuk — mengarahkan ke frontend dan pod lab.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memisahkan logika LMS (course, jadwal, submit) dari penyediaan lab.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membuat/menghapus pod lab Jupyter dinamis via Kubernetes API.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+ Redis sebagai lapisan data.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 + Estimator (Prophet) menjaga ketersediaan saat beban naik.</a:t>
            </a:r>
            <a:endParaRPr lang="en-US" sz="145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memantau seluruh layanan.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720840" y="5989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komponen berjalan sebagai microservice di atas Kubernetes (Azure AKS).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Uji Beban — Sequence Diagram</a:t>
            </a:r>
            <a:endParaRPr lang="en-US" sz="3200" dirty="0"/>
          </a:p>
        </p:txBody>
      </p:sp>
      <p:pic>
        <p:nvPicPr>
          <p:cNvPr id="3" name="Image 0" descr="s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271523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1234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① – ⑨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949440" y="1920240"/>
            <a:ext cx="48463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Locust kirim 30 POST /deploy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Orchestrator buat 30 pod (API Server)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Scheduler: 7 Running, 23 Pending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Autoscaler deteksi 23 pod Pending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Scale-up: +2 worker node (Azure)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Node baru Ready → jadwalkan 23 pod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 Tarik image lab 3GB (creating ~30 dtk)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 30 pod Running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 Poll status berjalan — 0% gagal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— Kriteria &amp; Referensi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performa menilai kemampuan sistem menangani beban pengguna yang meningkat (30 user konkuren) dan kestabilan performanya. Kriteria penerimaan dan hasil pengujian: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3172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560320"/>
                <a:gridCol w="31089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9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Kriteria penerimaan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9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(30 user)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9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1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9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 (p95)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 detik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ms 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25010:2023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 25010:2023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30 lab siap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menit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menit 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penelitian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Referensi: ISO/IEC 25010:2023 — System and software quality models (karakteristik Performance efficiency &amp; Reliability).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Oracle → Azure: Uji Berhasil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autoscaling gagal di Oracle Cloud Always Free karena kapasitas node terbatas. Setelah migrasi ke Azure AKS, uji 30 user berhasil penuh.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556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84048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OKE (Always Free A1)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AKS (Student)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Autoscaler terpicu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node pool 1→3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node pool 1→3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baru berhasil dibuat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"Out of host capacity"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node Ready ~40 dtk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berjalan (30 user)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5 / 30 (25 Pending)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30 / 30 Running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30 lab siap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(tidak tercapai)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menit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Tingkat kegagalan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(uji tak selesai)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F6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257800"/>
            <a:ext cx="11155680" cy="1097280"/>
          </a:xfrm>
          <a:prstGeom prst="roundRect">
            <a:avLst>
              <a:gd name="adj" fmla="val 8333"/>
            </a:avLst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39496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migrasi: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autoscaling sudah benar (terpicu di kedua cloud). Kendala di Oracle murni keterbatasan kapasitas Always Free A1 — bukan kegagalan sistem. Azure AKS menyediakan kapasitas andal sehingga scale-out benar-benar terjadi dan target tercapai.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Uji 30 User — Autoscaling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68580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63524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menit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63524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sampai 30 lab siap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35240" y="28803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63524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otomatis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4343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63524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kegagalan (30/30 lab)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58064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bertambah 1→3 pada ~menit ke-1; setelah image ter-cache, semua lab Running.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Locust &amp; Kesimpulan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kegagalan (30/30)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38328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request/detik stabil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ms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1792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/deploy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0" y="1325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052560" y="21488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/deploy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reaktif terbukti: worker node bertambah 1→3 otomatis, 30 lab siap dalam ~2 menit.</a:t>
            </a:r>
            <a:endParaRPr lang="en-US" sz="1600" dirty="0"/>
          </a:p>
          <a:p>
            <a:pPr marL="190500" indent="-1905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konsisten pada 3 kali pengujian (reproducible), tingkat kegagalan 0%.</a:t>
            </a:r>
            <a:endParaRPr lang="en-US" sz="1600" dirty="0"/>
          </a:p>
          <a:p>
            <a:pPr marL="190500" indent="-1905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&lt; 1 detik — memenuhi ambang responsif (Nielsen ≤ 1 dtk).</a:t>
            </a:r>
            <a:endParaRPr lang="en-US" sz="1600" dirty="0"/>
          </a:p>
          <a:p>
            <a:pPr marL="190500" indent="-1905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Dibanding baseline T50 (1 host): dari 91% gagal (crash) menjadi 0% gagal.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2026-07-07T05:57:29Z</dcterms:created>
  <dcterms:modified xsi:type="dcterms:W3CDTF">2026-07-07T05:57:29Z</dcterms:modified>
</cp:coreProperties>
</file>