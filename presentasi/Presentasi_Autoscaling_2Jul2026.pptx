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65" r:id="rId16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ln w="1905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822960"/>
            <a:ext cx="2194560" cy="2194560"/>
          </a:xfrm>
          <a:prstGeom prst="ellipse">
            <a:avLst/>
          </a:prstGeom>
          <a:ln w="12700">
            <a:solidFill>
              <a:srgbClr val="2750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UJI — 2 JULI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 LMS Praktikum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Berbasis Cloud (Kubernetes)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beban 30 lab simultan · Respons Cluster Autoscaler · Analisis cold-start scale-out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(respons)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5212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mnt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provisi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5212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diminta</a:t>
            </a:r>
            <a:endParaRPr lang="en-US" sz="1200" dirty="0"/>
          </a:p>
        </p:txBody>
      </p:sp>
      <p:sp>
        <p:nvSpPr>
          <p:cNvPr id="13" name="Text Penyaji Label"/>
          <p:cNvSpPr/>
          <p:nvPr/>
        </p:nvSpPr>
        <p:spPr>
          <a:xfrm>
            <a:off x="8686800" y="5150000"/>
            <a:ext cx="3048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PENYAJI</a:t>
            </a:r>
            <a:endParaRPr lang="en-US" sz="1050" dirty="0"/>
          </a:p>
        </p:txBody>
      </p:sp>
      <p:sp>
        <p:nvSpPr>
          <p:cNvPr id="14" name="Text Penyaji Nama"/>
          <p:cNvSpPr/>
          <p:nvPr/>
        </p:nvSpPr>
        <p:spPr>
          <a:xfrm>
            <a:off x="8686800" y="5410000"/>
            <a:ext cx="3048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Muhamad Alfan · 18119033</a:t>
            </a:r>
            <a:endParaRPr lang="en-US" sz="1500" dirty="0"/>
          </a:p>
        </p:txBody>
      </p:sp>
      <p:sp>
        <p:nvSpPr>
          <p:cNvPr id="15" name="Text Dosen Label"/>
          <p:cNvSpPr/>
          <p:nvPr/>
        </p:nvSpPr>
        <p:spPr>
          <a:xfrm>
            <a:off x="8686800" y="5800000"/>
            <a:ext cx="3048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PEMBIMBING</a:t>
            </a:r>
            <a:endParaRPr lang="en-US" sz="1050" dirty="0"/>
          </a:p>
        </p:txBody>
      </p:sp>
      <p:sp>
        <p:nvSpPr>
          <p:cNvPr id="16" name="Text Dosen Nama"/>
          <p:cNvSpPr/>
          <p:nvPr/>
        </p:nvSpPr>
        <p:spPr>
          <a:xfrm>
            <a:off x="7686800" y="6060000"/>
            <a:ext cx="4048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F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Hamonangan Situmorang, S.T., M.T.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&amp; Ruang Lingkup Uji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411480" cy="41148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931920" y="1828800"/>
            <a:ext cx="7345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perilaku autoscaling reaktif: seberapa cepat sistem menambah node saat lonjakan permintaan lab mahasiswa.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911535" cy="960120"/>
          </a:xfrm>
          <a:prstGeom prst="roundRect">
            <a:avLst>
              <a:gd name="adj" fmla="val 5714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108960"/>
            <a:ext cx="411480" cy="41148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9535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Skenario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31920" y="2926080"/>
            <a:ext cx="7345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30 permintaan Launch Lab konkuren ke orchestrator (mensimulasikan 30 mahasiswa serentak).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911535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06240"/>
            <a:ext cx="411480" cy="41148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507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diukur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31920" y="4023360"/>
            <a:ext cx="7345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lab (Running/Pending), jumlah node Ready, dan placeholder — direkam serentak tiap 10 detik.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11535" cy="960120"/>
          </a:xfrm>
          <a:prstGeom prst="roundRect">
            <a:avLst>
              <a:gd name="adj" fmla="val 5714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303520"/>
            <a:ext cx="411480" cy="41148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148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Fokus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931920" y="5120640"/>
            <a:ext cx="73453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autoscaling: respons reaktif Cluster Autoscaler terhadap beban.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Alat Pengumpulan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7568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Logger metrik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404872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collect_autoscale_metrics.sh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467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serentak lab (Running/Pending), node Ready, placeholder ke CSV tiap 10 detik selama uji.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24448" y="1783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98768" y="2075688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2" name="Text 10"/>
          <p:cNvSpPr/>
          <p:nvPr/>
        </p:nvSpPr>
        <p:spPr>
          <a:xfrm>
            <a:off x="659876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38848" y="203911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Pemicu beban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38848" y="2404872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loadtest-labs.yaml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98768" y="2834640"/>
            <a:ext cx="467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mengirim 30 POST /deploy konkuren ke orchestrator (kini menyertakan X-Orch-Token).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36168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32511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Pembuat grafik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4690872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plot_autoscale.py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120640"/>
            <a:ext cx="467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CSV menjadi grafik dual-axis (beban vs node) + ringkasan angka untuk laporan.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24448" y="4069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361688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4" name="Text 22"/>
          <p:cNvSpPr/>
          <p:nvPr/>
        </p:nvSpPr>
        <p:spPr>
          <a:xfrm>
            <a:off x="6598768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38848" y="432511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metrik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38848" y="4690872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+ Grafana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98768" y="5120640"/>
            <a:ext cx="467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lms_container_total; jumlah node via kubectl; ramalan Prophet dari log estimator.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Perilaku Autoscaling terhadap Beban</a:t>
            </a:r>
            <a:endParaRPr lang="en-US" sz="3000" dirty="0"/>
          </a:p>
        </p:txBody>
      </p:sp>
      <p:pic>
        <p:nvPicPr>
          <p:cNvPr id="4" name="Image 0" descr="C:/Users/aqila/AppData/Local/Temp/claude/C--Users-aqila-Downloads-Tugas-Akhir---Praktikum---LMS-Project-praktikum-lms-project-integrasi-backend/d082ad67-b66b-4431-9a31-4cc8f0386745/scratchpad/grafik_asl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877824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38360" y="1783080"/>
            <a:ext cx="201168" cy="20116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3"/>
          <p:cNvSpPr/>
          <p:nvPr/>
        </p:nvSpPr>
        <p:spPr>
          <a:xfrm>
            <a:off x="10030968" y="1691640"/>
            <a:ext cx="15206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Beban (biru)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030968" y="2011680"/>
            <a:ext cx="152064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yang diminta melonjak ke 30; Pending naik tajam.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738360" y="301752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10030968" y="2926080"/>
            <a:ext cx="15206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 (merah)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030968" y="3246120"/>
            <a:ext cx="152064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→ 3 setelah antrean muncul.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738360" y="4251960"/>
            <a:ext cx="201168" cy="20116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2" name="Text 9"/>
          <p:cNvSpPr/>
          <p:nvPr/>
        </p:nvSpPr>
        <p:spPr>
          <a:xfrm>
            <a:off x="10030968" y="4160520"/>
            <a:ext cx="15206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Cold-start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030968" y="4480560"/>
            <a:ext cx="152064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mentok — image 2GB ditarik serentak.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autoscale_run.csv (rekaman langsung, interval 10 dtk, durasi ~15 menit).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Fase yang Teramati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6822" y="2148840"/>
            <a:ext cx="640080" cy="64008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/>
          <p:nvPr/>
        </p:nvSpPr>
        <p:spPr>
          <a:xfrm>
            <a:off x="1546822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087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0–3,3 mnt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19963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lab, 1 node. Kondisi baseline sebelum beban.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59404" y="182880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6146" y="2148840"/>
            <a:ext cx="640080" cy="64008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146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42284" y="2971800"/>
            <a:ext cx="2087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≈3,3 mnt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42284" y="329184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Lonjakan beban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88004" y="3840480"/>
            <a:ext cx="19963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permintaan masuk; Pending melonjak ke ~25. Node masih 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8728" y="182880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85470" y="2148840"/>
            <a:ext cx="640080" cy="64008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8" name="Text 16"/>
          <p:cNvSpPr/>
          <p:nvPr/>
        </p:nvSpPr>
        <p:spPr>
          <a:xfrm>
            <a:off x="718547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61608" y="2971800"/>
            <a:ext cx="2087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A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≈7,2 mnt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61608" y="329184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 CA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07328" y="3840480"/>
            <a:ext cx="19963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→ 3 (~4 mnt setelah beban); Pending turun ke 0.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98051" y="182880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04793" y="21488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04793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80931" y="2971800"/>
            <a:ext cx="20878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7,2–15 mnt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80931" y="329184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Cold-start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26651" y="3840480"/>
            <a:ext cx="19963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mentok di 4: 30 pod menarik image 2GB serentak di node baru.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Kesimpulan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81448" cy="3749040"/>
          </a:xfrm>
          <a:prstGeom prst="roundRect">
            <a:avLst>
              <a:gd name="adj" fmla="val 2439"/>
            </a:avLst>
          </a:prstGeom>
          <a:solidFill>
            <a:srgbClr val="F3F6F8"/>
          </a:solidFill>
          <a:ln w="25400">
            <a:solidFill>
              <a:srgbClr val="2FA3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4449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487168"/>
            <a:ext cx="4449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 reaktif bekerja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4499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444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449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 menaikkan node 1 → 3 dalam ~4 menit setelah antrean muncul, lalu Pending bersih. Sistem otomatis menyesuaikan kapasitas terhadap lonjakan mahasiswa.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70168" y="1828800"/>
            <a:ext cx="5181448" cy="3749040"/>
          </a:xfrm>
          <a:prstGeom prst="roundRect">
            <a:avLst>
              <a:gd name="adj" fmla="val 2439"/>
            </a:avLst>
          </a:prstGeom>
          <a:solidFill>
            <a:srgbClr val="F3F6F8"/>
          </a:solidFill>
          <a:ln w="25400">
            <a:solidFill>
              <a:srgbClr val="E08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5928" y="2148840"/>
            <a:ext cx="4449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35928" y="2487168"/>
            <a:ext cx="44499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Cold-start scale-out lambat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735928" y="3200400"/>
            <a:ext cx="44499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GB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735928" y="3931920"/>
            <a:ext cx="444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×30 serentak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5928" y="4297680"/>
            <a:ext cx="4449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 node &amp; antrean beres, lab baru lambat Running karena 30 pod menarik image 2 GB serentak di node fresh (bottleneck pull). Motivasi optimasi di bawah.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Mitigasi Cold-Start (Terbukti)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32378" cy="2377440"/>
          </a:xfrm>
          <a:prstGeom prst="roundRect">
            <a:avLst>
              <a:gd name="adj" fmla="val 3846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27837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Ukuran image lab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502152"/>
            <a:ext cx="27837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5,42 GB → 2,06 GB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29658" y="1874520"/>
            <a:ext cx="3332378" cy="2377440"/>
          </a:xfrm>
          <a:prstGeom prst="roundRect">
            <a:avLst>
              <a:gd name="adj" fmla="val 3846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3978" y="2240280"/>
            <a:ext cx="27837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 ms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703978" y="310896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saat cache hangat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3978" y="3502152"/>
            <a:ext cx="27837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~6 menit cold pull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19237" y="1874520"/>
            <a:ext cx="3332378" cy="2377440"/>
          </a:xfrm>
          <a:prstGeom prst="roundRect">
            <a:avLst>
              <a:gd name="adj" fmla="val 3846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93557" y="2240280"/>
            <a:ext cx="278373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Otomatis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493557" y="310896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Pre-pull DaemonSet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93557" y="3502152"/>
            <a:ext cx="27837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siap di node baru sebelum lab dijadwalkan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cerita: reaktif berhasil → bottleneck cold-start ditemukan → dimitigasi (image kecil + pre-pull) → scale-out mendekati instan.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023360" cy="4023360"/>
          </a:xfrm>
          <a:prstGeom prst="ellipse">
            <a:avLst/>
          </a:prstGeom>
          <a:ln w="15240">
            <a:solidFill>
              <a:srgbClr val="275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 terbukti — cerita utuh &amp; terukur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256032" cy="2560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482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Reaktif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06240" y="2048256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 menambah node 1 → 3 otomatis mengikuti beban (~4 mnt).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256032" cy="2560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1693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 teridentifikasi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06240" y="2916936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scale-out lambat akibat pull image serentak.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913632"/>
            <a:ext cx="256032" cy="2560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856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Termitigasi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06240" y="3785616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−62% + pre-pull DaemonSet (249 ms warm) mempercepat scale-out.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63A5A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230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lanjut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5532120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Grafik dengan pre-pull aktif (Running mencapai ~30)   ·   ② Grafik prediktif via scheduler (placeholder naik mendahului beban / Prophet)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PENGUJIAN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&amp; Kriteria Uji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75688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Beban uji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404872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loadtest-labs.yaml · N=30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467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mengirim 30 POST /deploy serentak ke orchestrator — mensimulasikan 30 mahasiswa Launch Lab bersamaan.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24448" y="1783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98768" y="2075688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2" name="Text 10"/>
          <p:cNvSpPr/>
          <p:nvPr/>
        </p:nvSpPr>
        <p:spPr>
          <a:xfrm>
            <a:off x="659876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38848" y="203911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&amp; lingkungan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38848" y="2404872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/deploy → 1 pod lab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98768" y="2834640"/>
            <a:ext cx="467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Kubernetes OKE (node ARM A1) di Batam; tiap permintaan membuat 1 pod lab Jupyter.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361688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32511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 skala node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4690872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--nodes=1:3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120640"/>
            <a:ext cx="467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awal 1; Cluster Autoscaler boleh menambah hingga 3 node saat antrean muncul (kendali biaya).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24448" y="4069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768" y="4361688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4" name="Text 22"/>
          <p:cNvSpPr/>
          <p:nvPr/>
        </p:nvSpPr>
        <p:spPr>
          <a:xfrm>
            <a:off x="6598768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38848" y="432511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Kriteria sukses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38848" y="4690872"/>
            <a:ext cx="403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lab_pending → 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98768" y="5120640"/>
            <a:ext cx="467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 bila node bertambah otomatis mengikuti antrean &amp; Pending kembali 0 tanpa intervensi manual.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ara Kerj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UJI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640080" y="713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Alur: Beban → Autoscaling</a:t>
            </a:r>
            <a:endParaRPr lang="en-US" sz="3000" dirty="0"/>
          </a:p>
        </p:txBody>
      </p:sp>
      <p:sp>
        <p:nvSpPr>
          <p:cNvPr id="10" name="Row1 BG"/>
          <p:cNvSpPr/>
          <p:nvPr/>
        </p:nvSpPr>
        <p:spPr>
          <a:xfrm>
            <a:off x="640080" y="1650000"/>
            <a:ext cx="10911535" cy="880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1" name="Row1 Circle"/>
          <p:cNvSpPr/>
          <p:nvPr/>
        </p:nvSpPr>
        <p:spPr>
          <a:xfrm>
            <a:off x="914400" y="1861400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Row1 Title"/>
          <p:cNvSpPr/>
          <p:nvPr/>
        </p:nvSpPr>
        <p:spPr>
          <a:xfrm>
            <a:off x="1600200" y="1740000"/>
            <a:ext cx="960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Pemicu beban</a:t>
            </a:r>
            <a:endParaRPr lang="en-US" sz="1550" dirty="0"/>
          </a:p>
        </p:txBody>
      </p:sp>
      <p:sp>
        <p:nvSpPr>
          <p:cNvPr id="13" name="Row1 Desc"/>
          <p:cNvSpPr/>
          <p:nvPr/>
        </p:nvSpPr>
        <p:spPr>
          <a:xfrm>
            <a:off x="1600200" y="2080000"/>
            <a:ext cx="96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loadtest-labs mengirim 30 permintaan POST /deploy serentak (loop for + curl &amp;) — meniru 30 mahasiswa klik Launch Lab bersamaan.</a:t>
            </a:r>
            <a:endParaRPr lang="en-US" sz="1300" dirty="0"/>
          </a:p>
        </p:txBody>
      </p:sp>
      <p:sp>
        <p:nvSpPr>
          <p:cNvPr id="20" name="Row2 BG"/>
          <p:cNvSpPr/>
          <p:nvPr/>
        </p:nvSpPr>
        <p:spPr>
          <a:xfrm>
            <a:off x="640080" y="2578000"/>
            <a:ext cx="10911535" cy="880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1" name="Row2 Circle"/>
          <p:cNvSpPr/>
          <p:nvPr/>
        </p:nvSpPr>
        <p:spPr>
          <a:xfrm>
            <a:off x="914400" y="278940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Row2 Title"/>
          <p:cNvSpPr/>
          <p:nvPr/>
        </p:nvSpPr>
        <p:spPr>
          <a:xfrm>
            <a:off x="1600200" y="2668000"/>
            <a:ext cx="960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Pembuatan lab</a:t>
            </a:r>
            <a:endParaRPr lang="en-US" sz="1550" dirty="0"/>
          </a:p>
        </p:txBody>
      </p:sp>
      <p:sp>
        <p:nvSpPr>
          <p:cNvPr id="23" name="Row2 Desc"/>
          <p:cNvSpPr/>
          <p:nvPr/>
        </p:nvSpPr>
        <p:spPr>
          <a:xfrm>
            <a:off x="1600200" y="3008000"/>
            <a:ext cx="96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menerjemahkan tiap /deploy menjadi 1 Pod + Service + Ingress lab lewat Kubernetes API.</a:t>
            </a:r>
            <a:endParaRPr lang="en-US" sz="1300" dirty="0"/>
          </a:p>
        </p:txBody>
      </p:sp>
      <p:sp>
        <p:nvSpPr>
          <p:cNvPr id="30" name="Row3 BG"/>
          <p:cNvSpPr/>
          <p:nvPr/>
        </p:nvSpPr>
        <p:spPr>
          <a:xfrm>
            <a:off x="640080" y="3506000"/>
            <a:ext cx="10911535" cy="880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31" name="Row3 Circle"/>
          <p:cNvSpPr/>
          <p:nvPr/>
        </p:nvSpPr>
        <p:spPr>
          <a:xfrm>
            <a:off x="914400" y="3717400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Row3 Title"/>
          <p:cNvSpPr/>
          <p:nvPr/>
        </p:nvSpPr>
        <p:spPr>
          <a:xfrm>
            <a:off x="1600200" y="3596000"/>
            <a:ext cx="960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Antrean (Pending)</a:t>
            </a:r>
            <a:endParaRPr lang="en-US" sz="1550" dirty="0"/>
          </a:p>
        </p:txBody>
      </p:sp>
      <p:sp>
        <p:nvSpPr>
          <p:cNvPr id="33" name="Row3 Desc"/>
          <p:cNvSpPr/>
          <p:nvPr/>
        </p:nvSpPr>
        <p:spPr>
          <a:xfrm>
            <a:off x="1600200" y="3936000"/>
            <a:ext cx="96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awal penuh → sebagian Pod tak terjadwal (Pending) menumpuk sebagai sinyal kekurangan kapasitas.</a:t>
            </a:r>
            <a:endParaRPr lang="en-US" sz="1300" dirty="0"/>
          </a:p>
        </p:txBody>
      </p:sp>
      <p:sp>
        <p:nvSpPr>
          <p:cNvPr id="40" name="Row4 BG"/>
          <p:cNvSpPr/>
          <p:nvPr/>
        </p:nvSpPr>
        <p:spPr>
          <a:xfrm>
            <a:off x="640080" y="4434000"/>
            <a:ext cx="10911535" cy="880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1" name="Row4 Circle"/>
          <p:cNvSpPr/>
          <p:nvPr/>
        </p:nvSpPr>
        <p:spPr>
          <a:xfrm>
            <a:off x="914400" y="4645400"/>
            <a:ext cx="457200" cy="457200"/>
          </a:xfrm>
          <a:prstGeom prst="ellipse">
            <a:avLst/>
          </a:prstGeom>
          <a:solidFill>
            <a:srgbClr val="2FA3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Row4 Title"/>
          <p:cNvSpPr/>
          <p:nvPr/>
        </p:nvSpPr>
        <p:spPr>
          <a:xfrm>
            <a:off x="1600200" y="4524000"/>
            <a:ext cx="960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 autoscaler</a:t>
            </a:r>
            <a:endParaRPr lang="en-US" sz="1550" dirty="0"/>
          </a:p>
        </p:txBody>
      </p:sp>
      <p:sp>
        <p:nvSpPr>
          <p:cNvPr id="43" name="Row4 Desc"/>
          <p:cNvSpPr/>
          <p:nvPr/>
        </p:nvSpPr>
        <p:spPr>
          <a:xfrm>
            <a:off x="1600200" y="4864000"/>
            <a:ext cx="96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 mendeteksi Pod Pending → memesan node baru; node 1 → 3 (butuh ~4 mnt provisi A1).</a:t>
            </a:r>
            <a:endParaRPr lang="en-US" sz="1300" dirty="0"/>
          </a:p>
        </p:txBody>
      </p:sp>
      <p:sp>
        <p:nvSpPr>
          <p:cNvPr id="50" name="Row5 BG"/>
          <p:cNvSpPr/>
          <p:nvPr/>
        </p:nvSpPr>
        <p:spPr>
          <a:xfrm>
            <a:off x="640080" y="5362000"/>
            <a:ext cx="10911535" cy="880000"/>
          </a:xfrm>
          <a:prstGeom prst="roundRect">
            <a:avLst>
              <a:gd name="adj" fmla="val 8000"/>
            </a:avLst>
          </a:prstGeom>
          <a:solidFill>
            <a:srgbClr val="ECF7F3"/>
          </a:solidFill>
          <a:ln w="12700">
            <a:solidFill>
              <a:srgbClr val="BFE6D8"/>
            </a:solidFill>
            <a:prstDash val="solid"/>
          </a:ln>
        </p:spPr>
      </p:sp>
      <p:sp>
        <p:nvSpPr>
          <p:cNvPr id="51" name="Row5 Circle"/>
          <p:cNvSpPr/>
          <p:nvPr/>
        </p:nvSpPr>
        <p:spPr>
          <a:xfrm>
            <a:off x="914400" y="5573400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52" name="Row5 Title"/>
          <p:cNvSpPr/>
          <p:nvPr/>
        </p:nvSpPr>
        <p:spPr>
          <a:xfrm>
            <a:off x="1600200" y="5452000"/>
            <a:ext cx="960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Pulih &amp; terekam</a:t>
            </a:r>
            <a:endParaRPr lang="en-US" sz="1550" dirty="0"/>
          </a:p>
        </p:txBody>
      </p:sp>
      <p:sp>
        <p:nvSpPr>
          <p:cNvPr id="53" name="Row5 Desc"/>
          <p:cNvSpPr/>
          <p:nvPr/>
        </p:nvSpPr>
        <p:spPr>
          <a:xfrm>
            <a:off x="1600200" y="5792000"/>
            <a:ext cx="96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terjadwal di node baru → Pending kembali 0. Logger CSV merekam seluruh proses tiap 10 detik untuk grafik.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2026-07-02T22:55:39Z</dcterms:created>
  <dcterms:modified xsi:type="dcterms:W3CDTF">2026-07-02T22:55:39Z</dcterms:modified>
</cp:coreProperties>
</file>