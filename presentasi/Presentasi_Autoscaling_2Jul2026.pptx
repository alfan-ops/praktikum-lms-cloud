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ln w="19050">
            <a:solidFill>
              <a:srgbClr val="00A6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-822960"/>
            <a:ext cx="2194560" cy="2194560"/>
          </a:xfrm>
          <a:prstGeom prst="ellipse">
            <a:avLst/>
          </a:prstGeom>
          <a:ln w="12700">
            <a:solidFill>
              <a:srgbClr val="2750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UJI — 2 JULI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Autoscaling LMS Praktikum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Berbasis Cloud (Kubernetes)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beban 30 lab simultan · Respons Cluster Autoscaler · Analisis cold-start scale-out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212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(respons)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5212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 mnt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383280" y="5760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provisi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5212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5760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diminta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&amp; Ruang Lingkup Uji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1168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85623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931920" y="182880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Mengukur perilaku autoscaling reaktif: seberapa cepat sistem menambah node saat lonjakan permintaan lab mahasiswa.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10896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95351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Skenario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31920" y="292608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Mengirim 30 permintaan Launch Lab konkuren ke orchestrator (mensimulasikan 30 mahasiswa serentak).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20624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05079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diukur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931920" y="402336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lab (Running/Pending), jumlah node Ready, dan placeholder — direkam serentak tiap 10 detik.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5714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303520"/>
            <a:ext cx="411480" cy="4114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303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48072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Fokus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931920" y="5120640"/>
            <a:ext cx="73453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autoscaling: respons reaktif Cluster Autoscaler terhadap beban.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Alat Pengumpulan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75688"/>
            <a:ext cx="457200" cy="45720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75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039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Logger metrik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404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A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collect_autoscale_metrics.sh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2834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Rekam serentak lab (Running/Pending), node Ready, placeholder ke CSV tiap 10 detik selama uji.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783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98768" y="2075688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2075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38848" y="2039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Pemicu beban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238848" y="2404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loadtest-labs.yaml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98768" y="2834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mengirim 30 POST /deploy konkuren ke orchestrator (kini menyertakan X-Orch-Token).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361688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361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325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Pembuat grafik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54480" y="4690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A3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plot_autoscale.py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5120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CSV menjadi grafik dual-axis (beban vs node) + ringkasan angka untuk laporan.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324448" y="4069080"/>
            <a:ext cx="5227168" cy="1965960"/>
          </a:xfrm>
          <a:prstGeom prst="roundRect">
            <a:avLst>
              <a:gd name="adj" fmla="val 372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98768" y="4361688"/>
            <a:ext cx="457200" cy="45720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24" name="Text 22"/>
          <p:cNvSpPr/>
          <p:nvPr/>
        </p:nvSpPr>
        <p:spPr>
          <a:xfrm>
            <a:off x="6598768" y="4361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38848" y="4325112"/>
            <a:ext cx="4038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Sumber metrik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238848" y="4690872"/>
            <a:ext cx="403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+ Grafana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98768" y="5120640"/>
            <a:ext cx="46785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lms_container_total; jumlah node via kubectl; ramalan Prophet dari log estimator.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Perilaku Autoscaling terhadap Beban</a:t>
            </a:r>
            <a:endParaRPr lang="en-US" sz="3000" dirty="0"/>
          </a:p>
        </p:txBody>
      </p:sp>
      <p:pic>
        <p:nvPicPr>
          <p:cNvPr id="4" name="Image 0" descr="C:/Users/aqila/AppData/Local/Temp/claude/C--Users-aqila-Downloads-Tugas-Akhir---Praktikum---LMS-Project-praktikum-lms-project-integrasi-backend/d082ad67-b66b-4431-9a31-4cc8f0386745/scratchpad/grafik_autoscaling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8778240" cy="4389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738360" y="1783080"/>
            <a:ext cx="201168" cy="201168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3"/>
          <p:cNvSpPr/>
          <p:nvPr/>
        </p:nvSpPr>
        <p:spPr>
          <a:xfrm>
            <a:off x="10030968" y="1691640"/>
            <a:ext cx="152064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Beban (biru)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0030968" y="2011680"/>
            <a:ext cx="1520647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yang diminta melonjak ke 30; Pending naik tajam.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738360" y="301752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10030968" y="2926080"/>
            <a:ext cx="152064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 (merah)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0030968" y="3246120"/>
            <a:ext cx="1520647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 → 3 setelah antrean muncul.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38360" y="4251960"/>
            <a:ext cx="201168" cy="20116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2" name="Text 9"/>
          <p:cNvSpPr/>
          <p:nvPr/>
        </p:nvSpPr>
        <p:spPr>
          <a:xfrm>
            <a:off x="10030968" y="4160520"/>
            <a:ext cx="152064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0030968" y="4480560"/>
            <a:ext cx="1520647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mentok — image 2GB ditarik serentak.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autoscale_run.csv (rekaman langsung, interval 10 dtk, durasi ~15 menit).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 Fase yang Teramati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46822" y="2148840"/>
            <a:ext cx="640080" cy="640080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1546822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A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0–3,3 mnt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lab, 1 node. Kondisi baseline sebelum beban.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59404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6146" y="2148840"/>
            <a:ext cx="640080" cy="640080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4366146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42284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≈3,3 mnt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42284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Lonjakan beban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88004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permintaan masuk; Pending melonjak ke ~25. Node masih 1.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78728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5470" y="2148840"/>
            <a:ext cx="640080" cy="640080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18" name="Text 16"/>
          <p:cNvSpPr/>
          <p:nvPr/>
        </p:nvSpPr>
        <p:spPr>
          <a:xfrm>
            <a:off x="7185470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61608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A3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≈7,2 mnt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61608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 CA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07328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 → 3 (~4 mnt setelah beban); Pending turun ke 0.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98051" y="1828800"/>
            <a:ext cx="2453564" cy="3566160"/>
          </a:xfrm>
          <a:prstGeom prst="roundRect">
            <a:avLst>
              <a:gd name="adj" fmla="val 2981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04793" y="214884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10004793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280931" y="2971800"/>
            <a:ext cx="20878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7,2–15 mnt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80931" y="3291840"/>
            <a:ext cx="20878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326651" y="3840480"/>
            <a:ext cx="199636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mentok di 4: 30 pod menarik image 2GB serentak di node baru.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Kesimpulan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81448" cy="3749040"/>
          </a:xfrm>
          <a:prstGeom prst="roundRect">
            <a:avLst>
              <a:gd name="adj" fmla="val 2439"/>
            </a:avLst>
          </a:prstGeom>
          <a:solidFill>
            <a:srgbClr val="F3F6F8"/>
          </a:solidFill>
          <a:ln w="25400">
            <a:solidFill>
              <a:srgbClr val="2FA3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48840"/>
            <a:ext cx="44499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BERHASIL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5840" y="2487168"/>
            <a:ext cx="44499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Autoscaling reaktif bekerja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44499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A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4449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44992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menaikkan node 1 → 3 dalam ~4 menit setelah antrean muncul, lalu Pending bersih. Sistem otomatis menyesuaikan kapasitas terhadap lonjakan mahasiswa.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70168" y="1828800"/>
            <a:ext cx="5181448" cy="3749040"/>
          </a:xfrm>
          <a:prstGeom prst="roundRect">
            <a:avLst>
              <a:gd name="adj" fmla="val 2439"/>
            </a:avLst>
          </a:prstGeom>
          <a:solidFill>
            <a:srgbClr val="F3F6F8"/>
          </a:solidFill>
          <a:ln w="25400">
            <a:solidFill>
              <a:srgbClr val="E08A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5928" y="2148840"/>
            <a:ext cx="44499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35928" y="2487168"/>
            <a:ext cx="444992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Cold-start scale-out lambat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735928" y="3200400"/>
            <a:ext cx="44499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GB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35928" y="3931920"/>
            <a:ext cx="4449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×30 serentak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35928" y="4297680"/>
            <a:ext cx="444992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Meski node &amp; antrean beres, lab baru lambat Running karena 30 pod menarik image 2 GB serentak di node fresh (bottleneck pull). Motivasi optimasi di bawah.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Mitigasi Cold-Start (Terbukti)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32378" cy="2377440"/>
          </a:xfrm>
          <a:prstGeom prst="roundRect">
            <a:avLst>
              <a:gd name="adj" fmla="val 3846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27837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−62%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Ukuran image lab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502152"/>
            <a:ext cx="278373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5,42 GB → 2,06 GB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29658" y="1874520"/>
            <a:ext cx="3332378" cy="2377440"/>
          </a:xfrm>
          <a:prstGeom prst="roundRect">
            <a:avLst>
              <a:gd name="adj" fmla="val 3846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3978" y="2240280"/>
            <a:ext cx="27837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A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249 ms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703978" y="310896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saat cache hangat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3978" y="3502152"/>
            <a:ext cx="278373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~6 menit cold pull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19237" y="1874520"/>
            <a:ext cx="3332378" cy="2377440"/>
          </a:xfrm>
          <a:prstGeom prst="roundRect">
            <a:avLst>
              <a:gd name="adj" fmla="val 3846"/>
            </a:avLst>
          </a:prstGeom>
          <a:solidFill>
            <a:srgbClr val="F3F6F8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93557" y="2240280"/>
            <a:ext cx="27837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0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Otomatis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8493557" y="3108960"/>
            <a:ext cx="2783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Pre-pull DaemonSet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93557" y="3502152"/>
            <a:ext cx="278373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siap di node baru sebelum lab dijadwalkan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66344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cerita: reaktif berhasil → bottleneck cold-start ditemukan → dimitigasi (image kecil + pre-pull) → scale-out mendekati instan.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023360" cy="4023360"/>
          </a:xfrm>
          <a:prstGeom prst="ellipse">
            <a:avLst/>
          </a:prstGeom>
          <a:ln w="15240">
            <a:solidFill>
              <a:srgbClr val="2750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0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Autoscaling terbukti — cerita utuh &amp; terukur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176272"/>
            <a:ext cx="256032" cy="256032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04825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Reaktif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06240" y="2048256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4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menambah node 1 → 3 otomatis mengikuti beban (~4 mnt).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256032" cy="256032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91693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 teridentifikasi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206240" y="2916936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4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scale-out lambat akibat pull image serentak.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13632"/>
            <a:ext cx="256032" cy="256032"/>
          </a:xfrm>
          <a:prstGeom prst="ellipse">
            <a:avLst/>
          </a:prstGeom>
          <a:solidFill>
            <a:srgbClr val="00A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78561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Termitigasi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206240" y="3785616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C4D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−62% + pre-pull DaemonSet (249 ms warm) mempercepat scale-out.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163A5A"/>
          </a:solidFill>
          <a:ln w="12700">
            <a:solidFill>
              <a:srgbClr val="2750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230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Langkah lanjut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1027145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5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Grafik dengan pre-pull aktif (Running mencapai ~30)   ·   ② Grafik prediktif via scheduler (placeholder naik mendahului beban / Prophet)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2026-07-02T22:47:28Z</dcterms:created>
  <dcterms:modified xsi:type="dcterms:W3CDTF">2026-07-02T22:47:28Z</dcterms:modified>
</cp:coreProperties>
</file>